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49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731407"/>
            <a:ext cx="6480450" cy="3038878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79075-DF30-526B-9548-3F9D7EF9F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315" y="5264528"/>
            <a:ext cx="6577526" cy="1001354"/>
          </a:xfrm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80" y="6426091"/>
            <a:ext cx="43575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32188" y="6426091"/>
            <a:ext cx="1431447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82685" y="6426091"/>
            <a:ext cx="60311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D3F2A15-2C96-2533-3F11-3EFA30B5671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20000" y="0"/>
            <a:ext cx="4571999" cy="6858000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22CE8C-DC47-AF8A-A37E-C04D364B8D63}"/>
              </a:ext>
            </a:extLst>
          </p:cNvPr>
          <p:cNvCxnSpPr>
            <a:cxnSpLocks/>
          </p:cNvCxnSpPr>
          <p:nvPr/>
        </p:nvCxnSpPr>
        <p:spPr>
          <a:xfrm>
            <a:off x="533400" y="6324773"/>
            <a:ext cx="648045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35A6ADE-4FF0-6E84-4D25-A3E7A481303D}"/>
              </a:ext>
            </a:extLst>
          </p:cNvPr>
          <p:cNvCxnSpPr>
            <a:cxnSpLocks/>
          </p:cNvCxnSpPr>
          <p:nvPr/>
        </p:nvCxnSpPr>
        <p:spPr>
          <a:xfrm>
            <a:off x="533400" y="5184424"/>
            <a:ext cx="6460509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B306735-74E7-C788-FB5F-7BC551ED5CDD}"/>
              </a:ext>
            </a:extLst>
          </p:cNvPr>
          <p:cNvCxnSpPr>
            <a:cxnSpLocks/>
          </p:cNvCxnSpPr>
          <p:nvPr/>
        </p:nvCxnSpPr>
        <p:spPr>
          <a:xfrm>
            <a:off x="533400" y="512722"/>
            <a:ext cx="6456409" cy="0"/>
          </a:xfrm>
          <a:prstGeom prst="line">
            <a:avLst/>
          </a:prstGeom>
          <a:ln w="476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16178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79" y="332308"/>
            <a:ext cx="11253667" cy="909921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1488931"/>
            <a:ext cx="11253668" cy="47007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530352" y="1357303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48078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1F847F0-1D67-5F49-6571-5F248F11275B}"/>
              </a:ext>
            </a:extLst>
          </p:cNvPr>
          <p:cNvCxnSpPr>
            <a:cxnSpLocks/>
          </p:cNvCxnSpPr>
          <p:nvPr/>
        </p:nvCxnSpPr>
        <p:spPr>
          <a:xfrm>
            <a:off x="8173214" y="530425"/>
            <a:ext cx="3485386" cy="0"/>
          </a:xfrm>
          <a:prstGeom prst="line">
            <a:avLst/>
          </a:prstGeom>
          <a:ln w="412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280C4FA-D5DF-A52F-5EBC-E1A231F643A5}"/>
              </a:ext>
            </a:extLst>
          </p:cNvPr>
          <p:cNvCxnSpPr>
            <a:cxnSpLocks/>
          </p:cNvCxnSpPr>
          <p:nvPr/>
        </p:nvCxnSpPr>
        <p:spPr>
          <a:xfrm>
            <a:off x="8173214" y="5498461"/>
            <a:ext cx="3485386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3968" y="768351"/>
            <a:ext cx="3685656" cy="2843527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D3F2A15-2C96-2533-3F11-3EFA30B5671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605681" cy="6858000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79075-DF30-526B-9548-3F9D7EF9F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73978" y="5681133"/>
            <a:ext cx="3655646" cy="664191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E2571521-DF5C-DF9C-1A62-5F1513FC61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8073978" y="6426091"/>
            <a:ext cx="229505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135B836-FBFB-89F8-B972-11036B55F5CF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98013" y="6426091"/>
            <a:ext cx="875825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0AD8387-A9F9-E9E2-1138-08C0AA49571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0656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336" y="765750"/>
            <a:ext cx="9635668" cy="34551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8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428" y="5271844"/>
            <a:ext cx="9613065" cy="100135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4CDCB79-1025-8102-1BC6-378AB173CBFF}"/>
              </a:ext>
            </a:extLst>
          </p:cNvPr>
          <p:cNvCxnSpPr>
            <a:cxnSpLocks/>
          </p:cNvCxnSpPr>
          <p:nvPr/>
        </p:nvCxnSpPr>
        <p:spPr>
          <a:xfrm>
            <a:off x="533400" y="5184424"/>
            <a:ext cx="1112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EF23CAD-F5FD-3FB3-B413-1F54592B07E7}"/>
              </a:ext>
            </a:extLst>
          </p:cNvPr>
          <p:cNvCxnSpPr>
            <a:cxnSpLocks/>
          </p:cNvCxnSpPr>
          <p:nvPr/>
        </p:nvCxnSpPr>
        <p:spPr>
          <a:xfrm>
            <a:off x="533400" y="6324600"/>
            <a:ext cx="1112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14137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997" y="3018408"/>
            <a:ext cx="8961120" cy="3247475"/>
          </a:xfrm>
        </p:spPr>
        <p:txBody>
          <a:bodyPr anchor="b">
            <a:normAutofit/>
          </a:bodyPr>
          <a:lstStyle>
            <a:lvl1pPr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FD05DD5-DCB7-49C7-5E41-2DBD8B73D6D2}"/>
              </a:ext>
            </a:extLst>
          </p:cNvPr>
          <p:cNvCxnSpPr>
            <a:cxnSpLocks/>
          </p:cNvCxnSpPr>
          <p:nvPr/>
        </p:nvCxnSpPr>
        <p:spPr>
          <a:xfrm>
            <a:off x="530646" y="531958"/>
            <a:ext cx="11127954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9FDA663-314D-CA26-DF41-CB3FDC0733F0}"/>
              </a:ext>
            </a:extLst>
          </p:cNvPr>
          <p:cNvCxnSpPr>
            <a:cxnSpLocks/>
          </p:cNvCxnSpPr>
          <p:nvPr/>
        </p:nvCxnSpPr>
        <p:spPr>
          <a:xfrm>
            <a:off x="533400" y="6324600"/>
            <a:ext cx="111252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46364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2851"/>
            <a:ext cx="7525512" cy="1882595"/>
          </a:xfrm>
        </p:spPr>
        <p:txBody>
          <a:bodyPr anchor="t">
            <a:normAutofit/>
          </a:bodyPr>
          <a:lstStyle>
            <a:lvl1pPr>
              <a:defRPr sz="6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4856" y="2502245"/>
            <a:ext cx="7492991" cy="3669956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800100" indent="-342900">
              <a:buFont typeface="+mj-lt"/>
              <a:buAutoNum type="arabicPeriod"/>
              <a:defRPr lang="en-US" sz="1800" dirty="0"/>
            </a:lvl2pPr>
            <a:lvl3pPr marL="1257300" indent="-342900">
              <a:buFont typeface="+mj-lt"/>
              <a:buAutoNum type="arabicPeriod"/>
              <a:defRPr lang="en-US" sz="1600" dirty="0"/>
            </a:lvl3pPr>
            <a:lvl4pPr marL="1714500" indent="-342900">
              <a:buFont typeface="+mj-lt"/>
              <a:buAutoNum type="arabicPeriod"/>
              <a:defRPr lang="en-US" sz="1600" dirty="0"/>
            </a:lvl4pPr>
            <a:lvl5pPr marL="2171700" indent="-342900"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2182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Agenda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401519"/>
            <a:ext cx="6516938" cy="2091068"/>
          </a:xfrm>
        </p:spPr>
        <p:txBody>
          <a:bodyPr anchor="t">
            <a:normAutofit/>
          </a:bodyPr>
          <a:lstStyle>
            <a:lvl1pPr>
              <a:defRPr sz="6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6526" y="2897442"/>
            <a:ext cx="6482747" cy="327983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800100" indent="-342900">
              <a:buFont typeface="+mj-lt"/>
              <a:buAutoNum type="arabicPeriod"/>
              <a:defRPr lang="en-US" sz="1800" dirty="0"/>
            </a:lvl2pPr>
            <a:lvl3pPr marL="1257300" indent="-342900">
              <a:buFont typeface="+mj-lt"/>
              <a:buAutoNum type="arabicPeriod"/>
              <a:defRPr lang="en-US" sz="1600" dirty="0"/>
            </a:lvl3pPr>
            <a:lvl4pPr marL="1714500" indent="-342900">
              <a:buFont typeface="+mj-lt"/>
              <a:buAutoNum type="arabicPeriod"/>
              <a:defRPr lang="en-US" sz="1600" dirty="0"/>
            </a:lvl4pPr>
            <a:lvl5pPr marL="2171700" indent="-342900"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336" y="6426091"/>
            <a:ext cx="430301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95850" y="6416667"/>
            <a:ext cx="142031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16160" y="6416667"/>
            <a:ext cx="60311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FBFCD9F4-28CD-7877-8D0E-B6685E2A124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19999" y="0"/>
            <a:ext cx="4571999" cy="6857999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E6481B7-DF51-286F-B976-0777FDDAC524}"/>
              </a:ext>
            </a:extLst>
          </p:cNvPr>
          <p:cNvCxnSpPr>
            <a:cxnSpLocks/>
          </p:cNvCxnSpPr>
          <p:nvPr/>
        </p:nvCxnSpPr>
        <p:spPr>
          <a:xfrm>
            <a:off x="530352" y="2670800"/>
            <a:ext cx="6402856" cy="0"/>
          </a:xfrm>
          <a:prstGeom prst="line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9615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560" y="1399734"/>
            <a:ext cx="4136461" cy="291875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3780" y="1398419"/>
            <a:ext cx="625002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0352" y="6322906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60691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00" y="435785"/>
            <a:ext cx="4268573" cy="291875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1452" y="743106"/>
            <a:ext cx="6277070" cy="531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9F873DB-8FEF-C24C-ECA0-EABFFF560476}"/>
              </a:ext>
            </a:extLst>
          </p:cNvPr>
          <p:cNvCxnSpPr>
            <a:cxnSpLocks/>
          </p:cNvCxnSpPr>
          <p:nvPr/>
        </p:nvCxnSpPr>
        <p:spPr>
          <a:xfrm>
            <a:off x="5486400" y="528489"/>
            <a:ext cx="6172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0352" y="6324600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30123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3867" y="691867"/>
            <a:ext cx="5664732" cy="12126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4" name="Picture Placeholder 8">
            <a:extLst>
              <a:ext uri="{FF2B5EF4-FFF2-40B4-BE49-F238E27FC236}">
                <a16:creationId xmlns:a16="http://schemas.microsoft.com/office/drawing/2014/main" id="{38FD2E6A-E1F7-36FC-E50F-AD4CE76910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1" y="533400"/>
            <a:ext cx="4953000" cy="5811928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3865" y="2007652"/>
            <a:ext cx="5664732" cy="43153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6058518" y="530352"/>
            <a:ext cx="560008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92561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7971" y="691866"/>
            <a:ext cx="6680630" cy="12173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7BA63699-2EA2-4B8B-E296-BEF5937412F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3400"/>
            <a:ext cx="3886200" cy="5811924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7971" y="2010699"/>
            <a:ext cx="6680630" cy="43139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4984096" y="533400"/>
            <a:ext cx="6680631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28132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559" y="691867"/>
            <a:ext cx="6664559" cy="12173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217" y="2010699"/>
            <a:ext cx="6661902" cy="43308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7BA63699-2EA2-4B8B-E296-BEF5937412F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20000" y="533400"/>
            <a:ext cx="4038600" cy="5791200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00" y="6426091"/>
            <a:ext cx="355383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3F4131-F439-B360-2C50-DC4ED02C5AF2}"/>
              </a:ext>
            </a:extLst>
          </p:cNvPr>
          <p:cNvCxnSpPr>
            <a:cxnSpLocks/>
          </p:cNvCxnSpPr>
          <p:nvPr/>
        </p:nvCxnSpPr>
        <p:spPr>
          <a:xfrm>
            <a:off x="516418" y="530352"/>
            <a:ext cx="65677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0152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376" y="691868"/>
            <a:ext cx="4577602" cy="143921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376" y="2211185"/>
            <a:ext cx="4577602" cy="39549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7807F9F-79B5-ED92-41CC-A1D1A8D03E3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86400" y="533399"/>
            <a:ext cx="6172200" cy="5791201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516418" y="530352"/>
            <a:ext cx="443658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83878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8555" y="512011"/>
            <a:ext cx="6792069" cy="125992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9A161C3-930A-50CE-D3B8-C1429E6F242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3399"/>
            <a:ext cx="3886200" cy="5791201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857" y="6426091"/>
            <a:ext cx="413714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8555" y="2148840"/>
            <a:ext cx="6792069" cy="4162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9C51D6-8120-DE83-0A77-B4C479640664}"/>
              </a:ext>
            </a:extLst>
          </p:cNvPr>
          <p:cNvCxnSpPr>
            <a:cxnSpLocks/>
          </p:cNvCxnSpPr>
          <p:nvPr/>
        </p:nvCxnSpPr>
        <p:spPr>
          <a:xfrm>
            <a:off x="4953000" y="1892587"/>
            <a:ext cx="67056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18958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1935" y="691867"/>
            <a:ext cx="3052570" cy="20116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6BC46AA6-BED0-04C6-38E0-12160144CC3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399" y="533400"/>
            <a:ext cx="7667626" cy="5788757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1935" y="2889848"/>
            <a:ext cx="3052570" cy="3434752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5C6323EE-3C7E-2716-8BD0-C89545F04FC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F01E841F-9F6D-0E74-84D5-4BA2AF78F5C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CE2DCFD-EFAB-71DF-776D-014822C0AB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CFBB608-C785-A34D-1B6D-96361A676495}"/>
              </a:ext>
            </a:extLst>
          </p:cNvPr>
          <p:cNvCxnSpPr>
            <a:cxnSpLocks/>
          </p:cNvCxnSpPr>
          <p:nvPr/>
        </p:nvCxnSpPr>
        <p:spPr>
          <a:xfrm>
            <a:off x="8727541" y="533400"/>
            <a:ext cx="293106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18836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399" y="4829695"/>
            <a:ext cx="4289051" cy="14131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1FFBA57-7EFE-2CC4-EE45-5F1F633C1A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3400"/>
            <a:ext cx="11125200" cy="4013885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77800" dir="14400000" sx="98000" sy="98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857" y="6426091"/>
            <a:ext cx="428905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3779" y="4829695"/>
            <a:ext cx="6554822" cy="1529541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3005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755" y="691867"/>
            <a:ext cx="4067721" cy="155955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1FFBA57-7EFE-2CC4-EE45-5F1F633C1A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2521819"/>
            <a:ext cx="3886200" cy="3802781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90500" dir="144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0685" y="694944"/>
            <a:ext cx="6705600" cy="56296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857" y="6426091"/>
            <a:ext cx="398474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5355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295957"/>
            <a:ext cx="4000501" cy="18895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C4C6F3D6-B9C8-D66A-B29A-CE5D5FBDE5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1891"/>
            <a:ext cx="3886202" cy="3603594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90500" dir="144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1" y="694944"/>
            <a:ext cx="6705599" cy="55067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354F31B-6E0C-9ACF-A3B4-2BE5DD2D21D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1D4992A1-A620-24C8-73C6-0C53DD6F386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2384E85-ACDE-270D-7478-1B88F47F14A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4953001" y="531891"/>
            <a:ext cx="6705599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3399" y="6324600"/>
            <a:ext cx="11125201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22384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2889" y="5074607"/>
            <a:ext cx="11166223" cy="1068234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6419" y="495833"/>
            <a:ext cx="11159163" cy="4245996"/>
          </a:xfrm>
        </p:spPr>
        <p:txBody>
          <a:bodyPr anchor="ctr">
            <a:normAutofit/>
          </a:bodyPr>
          <a:lstStyle>
            <a:lvl1pPr marL="0" indent="0" algn="ctr">
              <a:lnSpc>
                <a:spcPct val="90000"/>
              </a:lnSpc>
              <a:buNone/>
              <a:defRPr sz="32000" cap="none" baseline="0">
                <a:solidFill>
                  <a:schemeClr val="accent1"/>
                </a:solidFill>
                <a:latin typeface="+mj-lt"/>
              </a:defRPr>
            </a:lvl1pPr>
            <a:lvl2pPr marL="228600" indent="0" algn="ctr">
              <a:lnSpc>
                <a:spcPct val="110000"/>
              </a:lnSpc>
              <a:buNone/>
              <a:defRPr sz="2400" cap="none" baseline="0">
                <a:solidFill>
                  <a:schemeClr val="tx1"/>
                </a:solidFill>
                <a:latin typeface="+mj-lt"/>
              </a:defRPr>
            </a:lvl2pPr>
            <a:lvl3pPr marL="457200" indent="0" algn="ctr">
              <a:lnSpc>
                <a:spcPct val="110000"/>
              </a:lnSpc>
              <a:buNone/>
              <a:defRPr sz="2000" cap="none" baseline="0">
                <a:solidFill>
                  <a:schemeClr val="tx1"/>
                </a:solidFill>
                <a:latin typeface="+mj-lt"/>
              </a:defRPr>
            </a:lvl3pPr>
            <a:lvl4pPr marL="685800" indent="0" algn="ctr">
              <a:lnSpc>
                <a:spcPct val="110000"/>
              </a:lnSpc>
              <a:buNone/>
              <a:defRPr sz="1800" cap="none" baseline="0">
                <a:solidFill>
                  <a:schemeClr val="tx1"/>
                </a:solidFill>
                <a:latin typeface="+mj-lt"/>
              </a:defRPr>
            </a:lvl4pPr>
            <a:lvl5pPr marL="914400" indent="0" algn="ctr">
              <a:lnSpc>
                <a:spcPct val="110000"/>
              </a:lnSpc>
              <a:buNone/>
              <a:defRPr sz="1600" cap="none" baseline="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FADD3D14-222C-BA8A-E4C0-8637820CBAB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FEF00E3-D3E5-F5AF-F035-66A1547A063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37222D35-3F63-3753-6F10-57879AFE3C5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6998540-FFAB-625C-C2E6-DC04B074A2C4}"/>
              </a:ext>
            </a:extLst>
          </p:cNvPr>
          <p:cNvCxnSpPr>
            <a:cxnSpLocks/>
          </p:cNvCxnSpPr>
          <p:nvPr/>
        </p:nvCxnSpPr>
        <p:spPr>
          <a:xfrm>
            <a:off x="530352" y="4839664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FE9B0A1-4C47-68AF-0383-4819E2242D4E}"/>
              </a:ext>
            </a:extLst>
          </p:cNvPr>
          <p:cNvCxnSpPr>
            <a:cxnSpLocks/>
          </p:cNvCxnSpPr>
          <p:nvPr/>
        </p:nvCxnSpPr>
        <p:spPr>
          <a:xfrm>
            <a:off x="530352" y="6324600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10481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1480" y="722376"/>
            <a:ext cx="10762488" cy="545896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90000"/>
              </a:lnSpc>
              <a:buNone/>
              <a:defRPr lang="en-US" sz="7200" cap="all" baseline="0" dirty="0">
                <a:latin typeface="+mj-lt"/>
              </a:defRPr>
            </a:lvl1pPr>
            <a:lvl2pPr marL="457200" indent="0">
              <a:lnSpc>
                <a:spcPct val="90000"/>
              </a:lnSpc>
              <a:buNone/>
              <a:defRPr lang="en-US" sz="6600" cap="all" baseline="0" dirty="0">
                <a:latin typeface="+mj-lt"/>
              </a:defRPr>
            </a:lvl2pPr>
            <a:lvl3pPr marL="914400" indent="0">
              <a:lnSpc>
                <a:spcPct val="90000"/>
              </a:lnSpc>
              <a:buNone/>
              <a:defRPr lang="en-US" sz="6000" cap="all" baseline="0" dirty="0">
                <a:latin typeface="+mj-lt"/>
              </a:defRPr>
            </a:lvl3pPr>
            <a:lvl4pPr marL="1371600" indent="0">
              <a:lnSpc>
                <a:spcPct val="90000"/>
              </a:lnSpc>
              <a:buNone/>
              <a:defRPr lang="en-US" sz="6000" cap="all" baseline="0" dirty="0">
                <a:latin typeface="+mj-lt"/>
              </a:defRPr>
            </a:lvl4pPr>
            <a:lvl5pPr marL="1828800" indent="0">
              <a:lnSpc>
                <a:spcPct val="90000"/>
              </a:lnSpc>
              <a:buNone/>
              <a:defRPr lang="en-US" sz="6000" cap="all" baseline="0" dirty="0"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4B05AAB-D167-637A-451A-510AF3173A7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28B3CFC-5715-1685-A039-A3162E1A6D0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5256ABD-1750-68C8-B3DD-DDDA3342C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7C0A4E9-267E-8FCC-AB27-70F0E33E2D79}"/>
              </a:ext>
            </a:extLst>
          </p:cNvPr>
          <p:cNvCxnSpPr>
            <a:cxnSpLocks/>
          </p:cNvCxnSpPr>
          <p:nvPr/>
        </p:nvCxnSpPr>
        <p:spPr>
          <a:xfrm>
            <a:off x="530352" y="533400"/>
            <a:ext cx="1112824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A1B5A9-A34C-A393-09C0-174C561F5FBF}"/>
              </a:ext>
            </a:extLst>
          </p:cNvPr>
          <p:cNvCxnSpPr>
            <a:cxnSpLocks/>
          </p:cNvCxnSpPr>
          <p:nvPr/>
        </p:nvCxnSpPr>
        <p:spPr>
          <a:xfrm>
            <a:off x="530352" y="6324600"/>
            <a:ext cx="1112824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26835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9764" y="5486400"/>
            <a:ext cx="9472473" cy="939691"/>
          </a:xfrm>
        </p:spPr>
        <p:txBody>
          <a:bodyPr anchor="ctr">
            <a:normAutofit/>
          </a:bodyPr>
          <a:lstStyle>
            <a:lvl1pPr marL="137160" indent="-137160" algn="ctr">
              <a:lnSpc>
                <a:spcPct val="100000"/>
              </a:lnSpc>
              <a:defRPr sz="1800" cap="all" baseline="0"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59761" y="667511"/>
            <a:ext cx="9413534" cy="4010998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4400" b="0" cap="none" spc="50" baseline="0">
                <a:solidFill>
                  <a:schemeClr val="accent1"/>
                </a:solidFill>
                <a:latin typeface="+mn-lt"/>
              </a:defRPr>
            </a:lvl1pPr>
            <a:lvl2pPr marL="228600" indent="0" algn="ctr">
              <a:lnSpc>
                <a:spcPct val="100000"/>
              </a:lnSpc>
              <a:buNone/>
              <a:defRPr sz="4000" b="0" cap="none" spc="50" baseline="0">
                <a:solidFill>
                  <a:schemeClr val="accent1"/>
                </a:solidFill>
                <a:latin typeface="+mn-lt"/>
              </a:defRPr>
            </a:lvl2pPr>
            <a:lvl3pPr marL="457200" indent="0" algn="ctr">
              <a:lnSpc>
                <a:spcPct val="100000"/>
              </a:lnSpc>
              <a:buNone/>
              <a:defRPr sz="3600" b="0" cap="none" spc="50" baseline="0">
                <a:solidFill>
                  <a:schemeClr val="accent1"/>
                </a:solidFill>
                <a:latin typeface="+mn-lt"/>
              </a:defRPr>
            </a:lvl3pPr>
            <a:lvl4pPr marL="685800" indent="0" algn="ctr">
              <a:lnSpc>
                <a:spcPct val="100000"/>
              </a:lnSpc>
              <a:buNone/>
              <a:defRPr sz="3200" b="0" cap="none" spc="50" baseline="0">
                <a:solidFill>
                  <a:schemeClr val="accent1"/>
                </a:solidFill>
                <a:latin typeface="+mn-lt"/>
              </a:defRPr>
            </a:lvl4pPr>
            <a:lvl5pPr marL="914400" indent="0" algn="ctr">
              <a:lnSpc>
                <a:spcPct val="100000"/>
              </a:lnSpc>
              <a:buNone/>
              <a:defRPr sz="2800" b="0" cap="none" spc="50" baseline="0">
                <a:solidFill>
                  <a:schemeClr val="accent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8922A5-1A25-C2CB-DB6C-A2CCA7E6E68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AB04756-BB80-4C64-D871-0ADC3A7778F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EF70E65-4C3D-A600-1367-6FBA2FDDE5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C95B307-0002-4F55-5801-73F564B37804}"/>
              </a:ext>
            </a:extLst>
          </p:cNvPr>
          <p:cNvCxnSpPr>
            <a:cxnSpLocks/>
          </p:cNvCxnSpPr>
          <p:nvPr/>
        </p:nvCxnSpPr>
        <p:spPr>
          <a:xfrm>
            <a:off x="1399690" y="5178692"/>
            <a:ext cx="9386681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73963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365760"/>
            <a:ext cx="11239498" cy="9144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B8DBCC-227D-BB0A-7CD5-02D66CF1874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9100" y="1714500"/>
            <a:ext cx="5305425" cy="43894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BB7E01-A7E6-1882-4E9B-8EABAF71F96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45936" y="1719072"/>
            <a:ext cx="5321808" cy="43905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90608C5-C55C-14AC-C8E9-7F0530018CE5}"/>
              </a:ext>
            </a:extLst>
          </p:cNvPr>
          <p:cNvCxnSpPr>
            <a:cxnSpLocks/>
          </p:cNvCxnSpPr>
          <p:nvPr/>
        </p:nvCxnSpPr>
        <p:spPr>
          <a:xfrm>
            <a:off x="533400" y="1357303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7839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365760"/>
            <a:ext cx="11256264" cy="9144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048" y="1490472"/>
            <a:ext cx="5321808" cy="64290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EFD932-A581-1A49-7FAF-0FED2E2BC18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9100" y="2212975"/>
            <a:ext cx="5303838" cy="3892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1490472"/>
            <a:ext cx="5321808" cy="64290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54404BD-8F2F-278E-C00B-3F1B1DE8CF2C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45238" y="2212975"/>
            <a:ext cx="5321808" cy="3892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90608C5-C55C-14AC-C8E9-7F0530018CE5}"/>
              </a:ext>
            </a:extLst>
          </p:cNvPr>
          <p:cNvCxnSpPr>
            <a:cxnSpLocks/>
          </p:cNvCxnSpPr>
          <p:nvPr/>
        </p:nvCxnSpPr>
        <p:spPr>
          <a:xfrm>
            <a:off x="530352" y="1357303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48703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3695F-5E74-A380-8592-35FB6FC77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C6149D-58D4-7497-818C-CF30244A2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8D2567-C532-BD45-FA85-03DBE3B3C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C0E491-56EB-F527-8A63-FBEEE6196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0747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mpt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E9D82C-4607-0C9D-F241-D35DBEFEF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DCFCC5-7F8E-F549-57BA-7303E9F17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BEB6A-C028-DA7D-C516-2F1316F03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5418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541942"/>
            <a:ext cx="11256264" cy="2225185"/>
          </a:xfrm>
        </p:spPr>
        <p:txBody>
          <a:bodyPr anchor="b">
            <a:normAutofit/>
          </a:bodyPr>
          <a:lstStyle>
            <a:lvl1pPr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099" y="3423301"/>
            <a:ext cx="11239499" cy="290129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457200" indent="0">
              <a:buNone/>
              <a:defRPr lang="en-US" dirty="0"/>
            </a:lvl2pPr>
            <a:lvl3pPr marL="914400" indent="0">
              <a:buNone/>
              <a:defRPr lang="en-US" dirty="0"/>
            </a:lvl3pPr>
            <a:lvl4pPr marL="1371600" indent="0">
              <a:buNone/>
              <a:defRPr lang="en-US" dirty="0"/>
            </a:lvl4pPr>
            <a:lvl5pPr marL="18288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FD55B63-1406-DAD2-DBAB-BD87EA2FB540}"/>
              </a:ext>
            </a:extLst>
          </p:cNvPr>
          <p:cNvCxnSpPr>
            <a:cxnSpLocks/>
          </p:cNvCxnSpPr>
          <p:nvPr/>
        </p:nvCxnSpPr>
        <p:spPr>
          <a:xfrm>
            <a:off x="533400" y="2978854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57288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1836238"/>
            <a:ext cx="11256264" cy="2512732"/>
          </a:xfrm>
        </p:spPr>
        <p:txBody>
          <a:bodyPr anchor="b">
            <a:normAutofit/>
          </a:bodyPr>
          <a:lstStyle>
            <a:lvl1pPr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099" y="4834052"/>
            <a:ext cx="11239499" cy="140547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2000" dirty="0"/>
            </a:lvl1pPr>
            <a:lvl2pPr marL="457200" indent="0">
              <a:buNone/>
              <a:defRPr lang="en-US" sz="1800" dirty="0"/>
            </a:lvl2pPr>
            <a:lvl3pPr marL="914400" indent="0">
              <a:buNone/>
              <a:defRPr lang="en-US" sz="1600" dirty="0"/>
            </a:lvl3pPr>
            <a:lvl4pPr marL="1371600" indent="0">
              <a:buNone/>
              <a:defRPr lang="en-US" sz="1400" dirty="0"/>
            </a:lvl4pPr>
            <a:lvl5pPr marL="18288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5899B98-11E6-7DB0-F79E-50A541026355}"/>
              </a:ext>
            </a:extLst>
          </p:cNvPr>
          <p:cNvCxnSpPr>
            <a:cxnSpLocks/>
          </p:cNvCxnSpPr>
          <p:nvPr/>
        </p:nvCxnSpPr>
        <p:spPr>
          <a:xfrm>
            <a:off x="533400" y="4531625"/>
            <a:ext cx="11125198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97577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59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8916C8C-4316-E510-1962-E944B3382B43}"/>
              </a:ext>
            </a:extLst>
          </p:cNvPr>
          <p:cNvCxnSpPr>
            <a:cxnSpLocks/>
          </p:cNvCxnSpPr>
          <p:nvPr/>
        </p:nvCxnSpPr>
        <p:spPr>
          <a:xfrm>
            <a:off x="530352" y="533400"/>
            <a:ext cx="1112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83" y="691868"/>
            <a:ext cx="11243617" cy="90113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7640" y="1754753"/>
            <a:ext cx="11240960" cy="44113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4857" y="6426091"/>
            <a:ext cx="46887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846205" y="6426091"/>
            <a:ext cx="33276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6187" y="6426091"/>
            <a:ext cx="603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1E8D67-00CA-7CDE-66AF-4E6E2CA0045D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864420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8" r:id="rId12"/>
    <p:sldLayoutId id="2147483759" r:id="rId13"/>
    <p:sldLayoutId id="2147483760" r:id="rId14"/>
    <p:sldLayoutId id="2147483761" r:id="rId15"/>
    <p:sldLayoutId id="2147483762" r:id="rId16"/>
    <p:sldLayoutId id="2147483763" r:id="rId17"/>
    <p:sldLayoutId id="2147483764" r:id="rId18"/>
    <p:sldLayoutId id="2147483765" r:id="rId19"/>
    <p:sldLayoutId id="2147483766" r:id="rId20"/>
    <p:sldLayoutId id="2147483767" r:id="rId21"/>
    <p:sldLayoutId id="2147483768" r:id="rId22"/>
    <p:sldLayoutId id="2147483769" r:id="rId23"/>
    <p:sldLayoutId id="2147483770" r:id="rId24"/>
    <p:sldLayoutId id="2147483771" r:id="rId25"/>
    <p:sldLayoutId id="2147483772" r:id="rId26"/>
    <p:sldLayoutId id="2147483773" r:id="rId27"/>
    <p:sldLayoutId id="2147483774" r:id="rId2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84">
          <p15:clr>
            <a:srgbClr val="F26B43"/>
          </p15:clr>
        </p15:guide>
        <p15:guide id="2" pos="4128">
          <p15:clr>
            <a:srgbClr val="F26B43"/>
          </p15:clr>
        </p15:guide>
        <p15:guide id="3" pos="3456">
          <p15:clr>
            <a:srgbClr val="F26B43"/>
          </p15:clr>
        </p15:guide>
        <p15:guide id="4" pos="2784">
          <p15:clr>
            <a:srgbClr val="F26B43"/>
          </p15:clr>
        </p15:guide>
        <p15:guide id="5" pos="336">
          <p15:clr>
            <a:srgbClr val="F26B43"/>
          </p15:clr>
        </p15:guide>
        <p15:guide id="6" pos="7344">
          <p15:clr>
            <a:srgbClr val="F26B43"/>
          </p15:clr>
        </p15:guide>
        <p15:guide id="7" orient="horz" pos="336">
          <p15:clr>
            <a:srgbClr val="F26B43"/>
          </p15:clr>
        </p15:guide>
        <p15:guide id="8" pos="264">
          <p15:clr>
            <a:srgbClr val="F26B43"/>
          </p15:clr>
        </p15:guide>
        <p15:guide id="9" pos="4800">
          <p15:clr>
            <a:srgbClr val="F26B43"/>
          </p15:clr>
        </p15:guide>
        <p15:guide id="10" pos="2112">
          <p15:clr>
            <a:srgbClr val="F26B43"/>
          </p15:clr>
        </p15:guide>
        <p15:guide id="11" pos="547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971800" y="292608"/>
            <a:ext cx="6263640" cy="566928"/>
          </a:xfrm>
          <a:prstGeom prst="roundRect">
            <a:avLst/>
          </a:prstGeom>
          <a:solidFill>
            <a:srgbClr val="E25B4E"/>
          </a:solidFill>
          <a:ln w="15240">
            <a:solidFill>
              <a:srgbClr val="B44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FFFFFF"/>
                </a:solidFill>
                <a:latin typeface="Georgia"/>
              </a:defRPr>
            </a:pPr>
            <a:r>
              <a:t>Citation-Network Analytics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303030"/>
                </a:solidFill>
                <a:latin typeface="Georgia"/>
              </a:defRPr>
            </a:pPr>
            <a:r>
              <a:t>Data Structures and Algorithms - 3 (25CS2103E)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47002" y="2423160"/>
            <a:ext cx="4267515" cy="24622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303030"/>
                </a:solidFill>
                <a:latin typeface="Georgia"/>
              </a:defRPr>
            </a:pPr>
            <a:r>
              <a:rPr dirty="0"/>
              <a:t>Team Number: 1</a:t>
            </a:r>
            <a:r>
              <a:rPr lang="en-IN" dirty="0"/>
              <a:t>4</a:t>
            </a:r>
            <a:r>
              <a:rPr dirty="0"/>
              <a:t>     |     Section: 13</a:t>
            </a:r>
          </a:p>
          <a:p>
            <a:pPr algn="ctr">
              <a:spcAft>
                <a:spcPts val="800"/>
              </a:spcAft>
              <a:defRPr sz="1600" b="0">
                <a:solidFill>
                  <a:srgbClr val="303030"/>
                </a:solidFill>
                <a:latin typeface="Georgia"/>
              </a:defRPr>
            </a:pPr>
            <a:r>
              <a:rPr dirty="0"/>
              <a:t>Sai Ajith Reddy (2520090186)</a:t>
            </a:r>
          </a:p>
          <a:p>
            <a:pPr algn="ctr">
              <a:spcAft>
                <a:spcPts val="800"/>
              </a:spcAft>
              <a:defRPr sz="1600" b="0">
                <a:solidFill>
                  <a:srgbClr val="303030"/>
                </a:solidFill>
                <a:latin typeface="Georgia"/>
              </a:defRPr>
            </a:pPr>
            <a:r>
              <a:rPr dirty="0"/>
              <a:t>P. Rithwik Rao (2520090203)</a:t>
            </a:r>
          </a:p>
          <a:p>
            <a:pPr algn="ctr">
              <a:spcAft>
                <a:spcPts val="800"/>
              </a:spcAft>
              <a:defRPr sz="1600" b="0">
                <a:solidFill>
                  <a:srgbClr val="303030"/>
                </a:solidFill>
                <a:latin typeface="Georgia"/>
              </a:defRPr>
            </a:pPr>
            <a:r>
              <a:rPr dirty="0"/>
              <a:t>P. Likith Kumar (2520090084)</a:t>
            </a:r>
          </a:p>
          <a:p>
            <a:pPr algn="ctr">
              <a:spcAft>
                <a:spcPts val="800"/>
              </a:spcAft>
              <a:defRPr sz="1600" b="0">
                <a:solidFill>
                  <a:srgbClr val="303030"/>
                </a:solidFill>
                <a:latin typeface="Georgia"/>
              </a:defRPr>
            </a:pPr>
            <a:endParaRPr dirty="0"/>
          </a:p>
          <a:p>
            <a:pPr algn="ctr">
              <a:spcAft>
                <a:spcPts val="800"/>
              </a:spcAft>
              <a:defRPr sz="1600" b="0">
                <a:solidFill>
                  <a:srgbClr val="303030"/>
                </a:solidFill>
                <a:latin typeface="Georgia"/>
              </a:defRPr>
            </a:pPr>
            <a:r>
              <a:rPr dirty="0"/>
              <a:t>Under the guidance of Dr. Dyuti </a:t>
            </a:r>
            <a:r>
              <a:rPr dirty="0" err="1"/>
              <a:t>Benerjee</a:t>
            </a:r>
            <a:endParaRPr dirty="0"/>
          </a:p>
          <a:p>
            <a:pPr algn="ctr">
              <a:spcAft>
                <a:spcPts val="800"/>
              </a:spcAft>
              <a:defRPr sz="1600" b="0">
                <a:solidFill>
                  <a:srgbClr val="303030"/>
                </a:solidFill>
                <a:latin typeface="Georgia"/>
              </a:defRPr>
            </a:pPr>
            <a:r>
              <a:rPr dirty="0"/>
              <a:t>A.Y.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  <a:latin typeface="Georgia"/>
              </a:defRPr>
            </a:pPr>
            <a:r>
              <a:t>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9FE33E-5B5B-429D-376F-728303C80D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97000" cy="13652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971800" y="292608"/>
            <a:ext cx="6263640" cy="566928"/>
          </a:xfrm>
          <a:prstGeom prst="roundRect">
            <a:avLst/>
          </a:prstGeom>
          <a:solidFill>
            <a:srgbClr val="E25B4E"/>
          </a:solidFill>
          <a:ln w="15240">
            <a:solidFill>
              <a:srgbClr val="B44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FFFFFF"/>
                </a:solidFill>
                <a:latin typeface="Georgia"/>
              </a:defRPr>
            </a:pPr>
            <a: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" y="1261872"/>
            <a:ext cx="93268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  <a:defRPr sz="2200">
                <a:solidFill>
                  <a:srgbClr val="303030"/>
                </a:solidFill>
                <a:latin typeface="Georgia"/>
              </a:defRPr>
            </a:pPr>
            <a:r>
              <a:rPr dirty="0"/>
              <a:t>Abstract</a:t>
            </a:r>
          </a:p>
          <a:p>
            <a:pPr>
              <a:lnSpc>
                <a:spcPct val="108000"/>
              </a:lnSpc>
              <a:spcAft>
                <a:spcPts val="1400"/>
              </a:spcAft>
              <a:defRPr sz="2200">
                <a:solidFill>
                  <a:srgbClr val="303030"/>
                </a:solidFill>
                <a:latin typeface="Georgia"/>
              </a:defRPr>
            </a:pPr>
            <a:r>
              <a:t>Introduction</a:t>
            </a:r>
          </a:p>
          <a:p>
            <a:pPr>
              <a:lnSpc>
                <a:spcPct val="108000"/>
              </a:lnSpc>
              <a:spcAft>
                <a:spcPts val="1400"/>
              </a:spcAft>
              <a:defRPr sz="2200">
                <a:solidFill>
                  <a:srgbClr val="303030"/>
                </a:solidFill>
                <a:latin typeface="Georgia"/>
              </a:defRPr>
            </a:pPr>
            <a:r>
              <a:rPr dirty="0"/>
              <a:t>Literature Survey</a:t>
            </a:r>
          </a:p>
          <a:p>
            <a:pPr>
              <a:lnSpc>
                <a:spcPct val="108000"/>
              </a:lnSpc>
              <a:spcAft>
                <a:spcPts val="1400"/>
              </a:spcAft>
              <a:defRPr sz="2200">
                <a:solidFill>
                  <a:srgbClr val="303030"/>
                </a:solidFill>
                <a:latin typeface="Georgia"/>
              </a:defRPr>
            </a:pPr>
            <a:r>
              <a:rPr dirty="0"/>
              <a:t>Problem Statement and Objectives</a:t>
            </a:r>
          </a:p>
          <a:p>
            <a:pPr>
              <a:lnSpc>
                <a:spcPct val="108000"/>
              </a:lnSpc>
              <a:spcAft>
                <a:spcPts val="1400"/>
              </a:spcAft>
              <a:defRPr sz="2200">
                <a:solidFill>
                  <a:srgbClr val="303030"/>
                </a:solidFill>
                <a:latin typeface="Georgia"/>
              </a:defRPr>
            </a:pPr>
            <a:r>
              <a:rPr dirty="0"/>
              <a:t>Hardware and Software Requirements</a:t>
            </a:r>
          </a:p>
          <a:p>
            <a:pPr>
              <a:lnSpc>
                <a:spcPct val="108000"/>
              </a:lnSpc>
              <a:spcAft>
                <a:spcPts val="1400"/>
              </a:spcAft>
              <a:defRPr sz="2200">
                <a:solidFill>
                  <a:srgbClr val="303030"/>
                </a:solidFill>
                <a:latin typeface="Georgia"/>
              </a:defRPr>
            </a:pPr>
            <a:r>
              <a:rPr dirty="0"/>
              <a:t>Results</a:t>
            </a:r>
          </a:p>
          <a:p>
            <a:pPr>
              <a:lnSpc>
                <a:spcPct val="108000"/>
              </a:lnSpc>
              <a:spcAft>
                <a:spcPts val="1400"/>
              </a:spcAft>
              <a:defRPr sz="2200">
                <a:solidFill>
                  <a:srgbClr val="303030"/>
                </a:solidFill>
                <a:latin typeface="Georgia"/>
              </a:defRPr>
            </a:pPr>
            <a:r>
              <a:rPr dirty="0"/>
              <a:t>Conclusion</a:t>
            </a:r>
          </a:p>
          <a:p>
            <a:pPr>
              <a:lnSpc>
                <a:spcPct val="108000"/>
              </a:lnSpc>
              <a:spcAft>
                <a:spcPts val="1400"/>
              </a:spcAft>
              <a:defRPr sz="2200">
                <a:solidFill>
                  <a:srgbClr val="303030"/>
                </a:solidFill>
                <a:latin typeface="Georgia"/>
              </a:defRPr>
            </a:pPr>
            <a:r>
              <a:rPr dirty="0"/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  <a:latin typeface="Georgia"/>
              </a:defRPr>
            </a:pPr>
            <a:r>
              <a:t>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3AF022-3797-095D-F2F8-6F39864286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97000" cy="13652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971800" y="292608"/>
            <a:ext cx="6263640" cy="566928"/>
          </a:xfrm>
          <a:prstGeom prst="roundRect">
            <a:avLst/>
          </a:prstGeom>
          <a:solidFill>
            <a:srgbClr val="E25B4E"/>
          </a:solidFill>
          <a:ln w="15240">
            <a:solidFill>
              <a:srgbClr val="B44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FFFFFF"/>
                </a:solidFill>
                <a:latin typeface="Georgia"/>
              </a:defRPr>
            </a:pPr>
            <a:r>
              <a:t>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36702"/>
            <a:ext cx="10607040" cy="3661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8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1800">
                <a:solidFill>
                  <a:srgbClr val="303030"/>
                </a:solidFill>
                <a:latin typeface="Georgia"/>
              </a:defRPr>
            </a:pPr>
            <a:r>
              <a:rPr dirty="0"/>
              <a:t>The Citation-Network Analytics Platform analyzes relationships among research papers through their citation networks.</a:t>
            </a:r>
          </a:p>
          <a:p>
            <a:pPr marL="285750" indent="-285750">
              <a:lnSpc>
                <a:spcPct val="108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1800">
                <a:solidFill>
                  <a:srgbClr val="303030"/>
                </a:solidFill>
                <a:latin typeface="Georgia"/>
              </a:defRPr>
            </a:pPr>
            <a:r>
              <a:rPr dirty="0"/>
              <a:t>Research papers are represented as nodes and citations as directed edges, forming a directed citation graph.</a:t>
            </a:r>
          </a:p>
          <a:p>
            <a:pPr marL="285750" indent="-285750">
              <a:lnSpc>
                <a:spcPct val="108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1800">
                <a:solidFill>
                  <a:srgbClr val="303030"/>
                </a:solidFill>
                <a:latin typeface="Georgia"/>
              </a:defRPr>
            </a:pPr>
            <a:r>
              <a:rPr dirty="0"/>
              <a:t>BFS and DFS are used for citation-flow analysis, while PageRank identifies influential papers.</a:t>
            </a:r>
          </a:p>
          <a:p>
            <a:pPr marL="285750" indent="-285750">
              <a:lnSpc>
                <a:spcPct val="108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1800">
                <a:solidFill>
                  <a:srgbClr val="303030"/>
                </a:solidFill>
                <a:latin typeface="Georgia"/>
              </a:defRPr>
            </a:pPr>
            <a:r>
              <a:rPr dirty="0"/>
              <a:t>Community detection discovers groups of closely related research papers.</a:t>
            </a:r>
          </a:p>
          <a:p>
            <a:pPr marL="285750" indent="-285750">
              <a:lnSpc>
                <a:spcPct val="108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1800">
                <a:solidFill>
                  <a:srgbClr val="303030"/>
                </a:solidFill>
                <a:latin typeface="Georgia"/>
              </a:defRPr>
            </a:pPr>
            <a:r>
              <a:rPr dirty="0"/>
              <a:t>Author-paper relationships are maintained to analyze publications and collaborations.</a:t>
            </a:r>
          </a:p>
          <a:p>
            <a:pPr marL="285750" indent="-285750">
              <a:lnSpc>
                <a:spcPct val="108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1800">
                <a:solidFill>
                  <a:srgbClr val="303030"/>
                </a:solidFill>
                <a:latin typeface="Georgia"/>
              </a:defRPr>
            </a:pPr>
            <a:r>
              <a:rPr dirty="0"/>
              <a:t>An interactive dashboard presents citation networks, influential papers, research communities, citation paths, and author information.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  <a:latin typeface="Georgia"/>
              </a:defRPr>
            </a:pPr>
            <a:r>
              <a:t>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E55908-13BD-1177-87EE-4A9C9B43D5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97000" cy="13652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971800" y="292608"/>
            <a:ext cx="6263640" cy="566928"/>
          </a:xfrm>
          <a:prstGeom prst="roundRect">
            <a:avLst/>
          </a:prstGeom>
          <a:solidFill>
            <a:srgbClr val="E25B4E"/>
          </a:solidFill>
          <a:ln w="15240">
            <a:solidFill>
              <a:srgbClr val="B44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FFFFFF"/>
                </a:solidFill>
                <a:latin typeface="Georgia"/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16263"/>
            <a:ext cx="10607040" cy="3945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8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1900">
                <a:solidFill>
                  <a:srgbClr val="303030"/>
                </a:solidFill>
                <a:latin typeface="Georgia"/>
              </a:defRPr>
            </a:pPr>
            <a:r>
              <a:rPr dirty="0"/>
              <a:t>Research papers are strongly connected because new research commonly builds upon previously published work.</a:t>
            </a:r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1900">
                <a:solidFill>
                  <a:srgbClr val="303030"/>
                </a:solidFill>
                <a:latin typeface="Georgia"/>
              </a:defRPr>
            </a:pPr>
            <a:r>
              <a:rPr dirty="0"/>
              <a:t>Existing academic search and citation systems provide citation counts, references, and basic paper information.</a:t>
            </a:r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1900">
                <a:solidFill>
                  <a:srgbClr val="303030"/>
                </a:solidFill>
                <a:latin typeface="Georgia"/>
              </a:defRPr>
            </a:pPr>
            <a:r>
              <a:rPr dirty="0"/>
              <a:t>They may not provide a unified view of how papers are connected or how citations flow through the network.</a:t>
            </a:r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1900">
                <a:solidFill>
                  <a:srgbClr val="303030"/>
                </a:solidFill>
                <a:latin typeface="Georgia"/>
              </a:defRPr>
            </a:pPr>
            <a:r>
              <a:rPr dirty="0"/>
              <a:t>Our platform models papers and citations as a directed graph to systematically explore citation relationships.</a:t>
            </a:r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1900">
                <a:solidFill>
                  <a:srgbClr val="303030"/>
                </a:solidFill>
                <a:latin typeface="Georgia"/>
              </a:defRPr>
            </a:pPr>
            <a:r>
              <a:rPr dirty="0"/>
              <a:t>The platform combines graph algorithms with visualization to study influential papers, research communities, and authors.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  <a:latin typeface="Georgia"/>
              </a:defRPr>
            </a:pPr>
            <a:r>
              <a:t>4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092212-D0CD-E309-4CAE-7B3E3ECC85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97000" cy="13652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971800" y="292608"/>
            <a:ext cx="6263640" cy="566928"/>
          </a:xfrm>
          <a:prstGeom prst="roundRect">
            <a:avLst/>
          </a:prstGeom>
          <a:solidFill>
            <a:srgbClr val="E25B4E"/>
          </a:solidFill>
          <a:ln w="15240">
            <a:solidFill>
              <a:srgbClr val="B44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FFFFFF"/>
                </a:solidFill>
                <a:latin typeface="Georgia"/>
              </a:defRPr>
            </a:pPr>
            <a:r>
              <a:t>Literature Survey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93393"/>
            <a:ext cx="10607040" cy="3661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8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1800">
                <a:solidFill>
                  <a:srgbClr val="303030"/>
                </a:solidFill>
                <a:latin typeface="Georgia"/>
              </a:defRPr>
            </a:pPr>
            <a:r>
              <a:rPr dirty="0"/>
              <a:t>Academic search and citation systems commonly provide paper details, references, and citation counts.</a:t>
            </a:r>
          </a:p>
          <a:p>
            <a:pPr marL="285750" indent="-285750">
              <a:lnSpc>
                <a:spcPct val="108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1800">
                <a:solidFill>
                  <a:srgbClr val="303030"/>
                </a:solidFill>
                <a:latin typeface="Georgia"/>
              </a:defRPr>
            </a:pPr>
            <a:r>
              <a:rPr dirty="0"/>
              <a:t>Graph-based approaches can represent citation relationships as networks of connected papers.</a:t>
            </a:r>
          </a:p>
          <a:p>
            <a:pPr marL="285750" indent="-285750">
              <a:lnSpc>
                <a:spcPct val="108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1800">
                <a:solidFill>
                  <a:srgbClr val="303030"/>
                </a:solidFill>
                <a:latin typeface="Georgia"/>
              </a:defRPr>
            </a:pPr>
            <a:r>
              <a:rPr dirty="0"/>
              <a:t>Graph traversal methods such as BFS and DFS support exploration of network relationships and paths.</a:t>
            </a:r>
          </a:p>
          <a:p>
            <a:pPr marL="285750" indent="-285750">
              <a:lnSpc>
                <a:spcPct val="108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1800">
                <a:solidFill>
                  <a:srgbClr val="303030"/>
                </a:solidFill>
                <a:latin typeface="Georgia"/>
              </a:defRPr>
            </a:pPr>
            <a:r>
              <a:rPr dirty="0"/>
              <a:t>PageRank-style ranking can be used to identify influential nodes based on link structure.</a:t>
            </a:r>
          </a:p>
          <a:p>
            <a:pPr marL="285750" indent="-285750">
              <a:lnSpc>
                <a:spcPct val="108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1800">
                <a:solidFill>
                  <a:srgbClr val="303030"/>
                </a:solidFill>
                <a:latin typeface="Georgia"/>
              </a:defRPr>
            </a:pPr>
            <a:r>
              <a:rPr dirty="0"/>
              <a:t>Community detection can reveal closely connected groups within a network.</a:t>
            </a:r>
          </a:p>
          <a:p>
            <a:pPr marL="285750" indent="-285750">
              <a:lnSpc>
                <a:spcPct val="108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1800">
                <a:solidFill>
                  <a:srgbClr val="303030"/>
                </a:solidFill>
                <a:latin typeface="Georgia"/>
              </a:defRPr>
            </a:pPr>
            <a:r>
              <a:rPr dirty="0"/>
              <a:t>Our proposed platform combines these ideas into one interactive citation-network analysis workflow.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  <a:latin typeface="Georgia"/>
              </a:defRPr>
            </a:pPr>
            <a:r>
              <a:t>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EEE08A-F38B-FED1-B6A1-5A2C4B227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97000" cy="13652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971800" y="292608"/>
            <a:ext cx="6263640" cy="566928"/>
          </a:xfrm>
          <a:prstGeom prst="roundRect">
            <a:avLst/>
          </a:prstGeom>
          <a:solidFill>
            <a:srgbClr val="E25B4E"/>
          </a:solidFill>
          <a:ln w="15240">
            <a:solidFill>
              <a:srgbClr val="B44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FFFFFF"/>
                </a:solidFill>
                <a:latin typeface="Georgia"/>
              </a:defRPr>
            </a:pPr>
            <a:r>
              <a:t>Problem Statement and 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918253"/>
            <a:ext cx="5303520" cy="1920240"/>
          </a:xfrm>
          <a:prstGeom prst="roundRect">
            <a:avLst/>
          </a:prstGeom>
          <a:solidFill>
            <a:srgbClr val="FFFFFC"/>
          </a:solidFill>
          <a:ln>
            <a:solidFill>
              <a:srgbClr val="CDCD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28525F"/>
                </a:solidFill>
                <a:latin typeface="Georgia"/>
              </a:defRPr>
            </a:pPr>
            <a:r>
              <a:t>Problem Statement</a:t>
            </a:r>
          </a:p>
          <a:p>
            <a:pPr>
              <a:defRPr sz="1400">
                <a:solidFill>
                  <a:srgbClr val="303030"/>
                </a:solidFill>
                <a:latin typeface="Georgia"/>
              </a:defRPr>
            </a:pPr>
            <a:r>
              <a:t>Existing systems can provide citation counts and references, but may not give a unified view of citation relationships, citation flow, research communities, and author connections.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934157"/>
            <a:ext cx="5303520" cy="1920240"/>
          </a:xfrm>
          <a:prstGeom prst="roundRect">
            <a:avLst/>
          </a:prstGeom>
          <a:solidFill>
            <a:srgbClr val="FFFFFC"/>
          </a:solidFill>
          <a:ln>
            <a:solidFill>
              <a:srgbClr val="CDCD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28525F"/>
                </a:solidFill>
                <a:latin typeface="Georgia"/>
              </a:defRPr>
            </a:pPr>
            <a:r>
              <a:rPr dirty="0"/>
              <a:t>Objectives</a:t>
            </a:r>
          </a:p>
          <a:p>
            <a:pPr>
              <a:defRPr sz="1400">
                <a:solidFill>
                  <a:srgbClr val="303030"/>
                </a:solidFill>
                <a:latin typeface="Georgia"/>
              </a:defRPr>
            </a:pPr>
            <a:r>
              <a:rPr dirty="0"/>
              <a:t>Build a citation graph; analyze citation paths using BFS/DFS; identify influential papers with PageRank; discover research communities; analyze authors and collaborations; and visualize the results.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4412974"/>
            <a:ext cx="10149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  <a:defRPr sz="2000">
                <a:solidFill>
                  <a:srgbClr val="303030"/>
                </a:solidFill>
                <a:latin typeface="Georgia"/>
              </a:defRPr>
            </a:pPr>
            <a:r>
              <a:rPr dirty="0"/>
              <a:t>Primary DSA focus: Directed Graph, BFS, DFS, PageRank, and Community Detection.</a:t>
            </a:r>
          </a:p>
          <a:p>
            <a:pPr>
              <a:lnSpc>
                <a:spcPct val="108000"/>
              </a:lnSpc>
              <a:spcAft>
                <a:spcPts val="1400"/>
              </a:spcAft>
              <a:defRPr sz="2000">
                <a:solidFill>
                  <a:srgbClr val="303030"/>
                </a:solidFill>
                <a:latin typeface="Georgia"/>
              </a:defRPr>
            </a:pPr>
            <a:r>
              <a:rPr dirty="0"/>
              <a:t>Primary user value: systematic exploration of academic literature and research relationships.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  <a:latin typeface="Georgia"/>
              </a:defRPr>
            </a:pPr>
            <a:r>
              <a:t>6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29DB247-2E00-1FB0-A587-F62A5E56F6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97000" cy="13652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478024" y="292608"/>
            <a:ext cx="6757416" cy="566928"/>
          </a:xfrm>
          <a:prstGeom prst="roundRect">
            <a:avLst>
              <a:gd name="adj" fmla="val 16667"/>
            </a:avLst>
          </a:prstGeom>
          <a:solidFill>
            <a:srgbClr val="E25B4E"/>
          </a:solidFill>
          <a:ln w="15240">
            <a:solidFill>
              <a:srgbClr val="B44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FFFFFF"/>
                </a:solidFill>
                <a:latin typeface="Georgia"/>
              </a:defRPr>
            </a:pPr>
            <a:r>
              <a:rPr dirty="0"/>
              <a:t>Hardware and Software Requirements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564420"/>
            <a:ext cx="5486400" cy="5074920"/>
          </a:xfrm>
          <a:prstGeom prst="roundRect">
            <a:avLst/>
          </a:prstGeom>
          <a:solidFill>
            <a:srgbClr val="FFFFFC"/>
          </a:solidFill>
          <a:ln>
            <a:solidFill>
              <a:srgbClr val="CDCD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28525F"/>
                </a:solidFill>
                <a:latin typeface="Georgia"/>
              </a:defRPr>
            </a:pPr>
            <a:r>
              <a:rPr sz="2400" dirty="0"/>
              <a:t>Software Requirements</a:t>
            </a:r>
            <a:endParaRPr lang="en-IN" dirty="0"/>
          </a:p>
          <a:p>
            <a:pPr>
              <a:defRPr sz="1400">
                <a:solidFill>
                  <a:srgbClr val="303030"/>
                </a:solidFill>
                <a:latin typeface="Georgia"/>
              </a:defRPr>
            </a:pPr>
            <a:endParaRPr lang="en-IN" dirty="0"/>
          </a:p>
          <a:p>
            <a:pPr>
              <a:defRPr sz="1400">
                <a:solidFill>
                  <a:srgbClr val="303030"/>
                </a:solidFill>
                <a:latin typeface="Georgia"/>
              </a:defRPr>
            </a:pPr>
            <a:endParaRPr lang="en-IN" dirty="0"/>
          </a:p>
          <a:p>
            <a:pPr lvl="1">
              <a:defRPr sz="1400">
                <a:solidFill>
                  <a:srgbClr val="303030"/>
                </a:solidFill>
                <a:latin typeface="Georgia"/>
              </a:defRPr>
            </a:pPr>
            <a:r>
              <a:rPr dirty="0"/>
              <a:t>OS: Windows 10/11 or Linux</a:t>
            </a:r>
            <a:endParaRPr lang="en-IN" dirty="0"/>
          </a:p>
          <a:p>
            <a:pPr lvl="1">
              <a:defRPr sz="1400">
                <a:solidFill>
                  <a:srgbClr val="303030"/>
                </a:solidFill>
                <a:latin typeface="Georgia"/>
              </a:defRPr>
            </a:pPr>
            <a:br>
              <a:rPr dirty="0"/>
            </a:br>
            <a:r>
              <a:rPr dirty="0"/>
              <a:t>Programming: Python</a:t>
            </a:r>
            <a:endParaRPr lang="en-IN" dirty="0"/>
          </a:p>
          <a:p>
            <a:pPr lvl="1">
              <a:defRPr sz="1400">
                <a:solidFill>
                  <a:srgbClr val="303030"/>
                </a:solidFill>
                <a:latin typeface="Georgia"/>
              </a:defRPr>
            </a:pPr>
            <a:br>
              <a:rPr dirty="0"/>
            </a:br>
            <a:r>
              <a:rPr dirty="0"/>
              <a:t>Frontend: HTML, CSS, JavaScript / React.js</a:t>
            </a:r>
            <a:endParaRPr lang="en-IN" dirty="0"/>
          </a:p>
          <a:p>
            <a:pPr lvl="1">
              <a:defRPr sz="1400">
                <a:solidFill>
                  <a:srgbClr val="303030"/>
                </a:solidFill>
                <a:latin typeface="Georgia"/>
              </a:defRPr>
            </a:pPr>
            <a:br>
              <a:rPr dirty="0"/>
            </a:br>
            <a:r>
              <a:rPr dirty="0"/>
              <a:t>Backend: Flask or </a:t>
            </a:r>
            <a:r>
              <a:rPr dirty="0" err="1"/>
              <a:t>FastAPI</a:t>
            </a:r>
            <a:endParaRPr lang="en-IN" dirty="0"/>
          </a:p>
          <a:p>
            <a:pPr lvl="1">
              <a:defRPr sz="1400">
                <a:solidFill>
                  <a:srgbClr val="303030"/>
                </a:solidFill>
                <a:latin typeface="Georgia"/>
              </a:defRPr>
            </a:pPr>
            <a:br>
              <a:rPr dirty="0"/>
            </a:br>
            <a:r>
              <a:rPr dirty="0"/>
              <a:t>Database: SQLite / PostgreSQL</a:t>
            </a:r>
            <a:endParaRPr lang="en-IN" dirty="0"/>
          </a:p>
          <a:p>
            <a:pPr lvl="1">
              <a:defRPr sz="1400">
                <a:solidFill>
                  <a:srgbClr val="303030"/>
                </a:solidFill>
                <a:latin typeface="Georgia"/>
              </a:defRPr>
            </a:pPr>
            <a:br>
              <a:rPr dirty="0"/>
            </a:br>
            <a:r>
              <a:rPr dirty="0"/>
              <a:t>Graph: </a:t>
            </a:r>
            <a:r>
              <a:rPr dirty="0" err="1"/>
              <a:t>NetworkX</a:t>
            </a:r>
            <a:endParaRPr lang="en-IN" dirty="0"/>
          </a:p>
          <a:p>
            <a:pPr lvl="1">
              <a:defRPr sz="1400">
                <a:solidFill>
                  <a:srgbClr val="303030"/>
                </a:solidFill>
                <a:latin typeface="Georgia"/>
              </a:defRPr>
            </a:pPr>
            <a:br>
              <a:rPr dirty="0"/>
            </a:br>
            <a:r>
              <a:rPr dirty="0"/>
              <a:t>Data: Pandas, NumPy</a:t>
            </a:r>
            <a:endParaRPr lang="en-IN" dirty="0"/>
          </a:p>
          <a:p>
            <a:pPr lvl="1">
              <a:defRPr sz="1400">
                <a:solidFill>
                  <a:srgbClr val="303030"/>
                </a:solidFill>
                <a:latin typeface="Georgia"/>
              </a:defRPr>
            </a:pPr>
            <a:br>
              <a:rPr dirty="0"/>
            </a:br>
            <a:r>
              <a:rPr dirty="0"/>
              <a:t>PDF/Text: </a:t>
            </a:r>
            <a:r>
              <a:rPr dirty="0" err="1"/>
              <a:t>PyPDF</a:t>
            </a:r>
            <a:endParaRPr lang="en-IN" dirty="0"/>
          </a:p>
          <a:p>
            <a:pPr lvl="1">
              <a:defRPr sz="1400">
                <a:solidFill>
                  <a:srgbClr val="303030"/>
                </a:solidFill>
                <a:latin typeface="Georgia"/>
              </a:defRPr>
            </a:pPr>
            <a:br>
              <a:rPr dirty="0"/>
            </a:br>
            <a:r>
              <a:rPr dirty="0"/>
              <a:t>Visualization: Cytoscape.js or equivalent</a:t>
            </a:r>
            <a:endParaRPr lang="en-IN" dirty="0"/>
          </a:p>
          <a:p>
            <a:pPr lvl="1">
              <a:defRPr sz="1400">
                <a:solidFill>
                  <a:srgbClr val="303030"/>
                </a:solidFill>
                <a:latin typeface="Georgia"/>
              </a:defRPr>
            </a:pPr>
            <a:br>
              <a:rPr dirty="0"/>
            </a:br>
            <a:r>
              <a:rPr dirty="0"/>
              <a:t>IDE: Visual Studio 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94120" y="1572768"/>
            <a:ext cx="5303520" cy="5074920"/>
          </a:xfrm>
          <a:prstGeom prst="roundRect">
            <a:avLst/>
          </a:prstGeom>
          <a:solidFill>
            <a:srgbClr val="FFFFFC"/>
          </a:solidFill>
          <a:ln>
            <a:solidFill>
              <a:srgbClr val="CDCD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28525F"/>
                </a:solidFill>
                <a:latin typeface="Georgia"/>
              </a:defRPr>
            </a:pPr>
            <a:r>
              <a:rPr sz="2400" dirty="0"/>
              <a:t>Hardware Requirements</a:t>
            </a:r>
            <a:endParaRPr lang="en-IN" sz="2400" dirty="0"/>
          </a:p>
          <a:p>
            <a:pPr algn="ctr">
              <a:spcAft>
                <a:spcPts val="800"/>
              </a:spcAft>
              <a:defRPr sz="1800" b="1">
                <a:solidFill>
                  <a:srgbClr val="28525F"/>
                </a:solidFill>
                <a:latin typeface="Georgia"/>
              </a:defRPr>
            </a:pPr>
            <a:endParaRPr sz="2400" dirty="0"/>
          </a:p>
          <a:p>
            <a:pPr>
              <a:defRPr sz="1400">
                <a:solidFill>
                  <a:srgbClr val="303030"/>
                </a:solidFill>
                <a:latin typeface="Georgia"/>
              </a:defRPr>
            </a:pPr>
            <a:r>
              <a:rPr dirty="0"/>
              <a:t>Processor: Intel Core i5 / AMD Ryzen 5 or equivalent</a:t>
            </a:r>
            <a:endParaRPr lang="en-IN" dirty="0"/>
          </a:p>
          <a:p>
            <a:pPr>
              <a:defRPr sz="1400">
                <a:solidFill>
                  <a:srgbClr val="303030"/>
                </a:solidFill>
                <a:latin typeface="Georgia"/>
              </a:defRPr>
            </a:pPr>
            <a:br>
              <a:rPr dirty="0"/>
            </a:br>
            <a:r>
              <a:rPr dirty="0"/>
              <a:t>RAM: Minimum 8 GB</a:t>
            </a:r>
            <a:endParaRPr lang="en-IN" dirty="0"/>
          </a:p>
          <a:p>
            <a:pPr>
              <a:defRPr sz="1400">
                <a:solidFill>
                  <a:srgbClr val="303030"/>
                </a:solidFill>
                <a:latin typeface="Georgia"/>
              </a:defRPr>
            </a:pPr>
            <a:br>
              <a:rPr dirty="0"/>
            </a:br>
            <a:r>
              <a:rPr dirty="0"/>
              <a:t>Storage: Minimum 10 GB free</a:t>
            </a:r>
            <a:endParaRPr lang="en-IN" dirty="0"/>
          </a:p>
          <a:p>
            <a:pPr>
              <a:defRPr sz="1400">
                <a:solidFill>
                  <a:srgbClr val="303030"/>
                </a:solidFill>
                <a:latin typeface="Georgia"/>
              </a:defRPr>
            </a:pPr>
            <a:br>
              <a:rPr dirty="0"/>
            </a:br>
            <a:r>
              <a:rPr dirty="0"/>
              <a:t>Display: 1366 × 768 or higher</a:t>
            </a:r>
            <a:endParaRPr lang="en-IN" dirty="0"/>
          </a:p>
          <a:p>
            <a:pPr>
              <a:defRPr sz="1400">
                <a:solidFill>
                  <a:srgbClr val="303030"/>
                </a:solidFill>
                <a:latin typeface="Georgia"/>
              </a:defRPr>
            </a:pPr>
            <a:br>
              <a:rPr dirty="0"/>
            </a:br>
            <a:r>
              <a:rPr dirty="0"/>
              <a:t>Internet: Required for datasets and external resources</a:t>
            </a:r>
            <a:endParaRPr lang="en-IN" dirty="0"/>
          </a:p>
          <a:p>
            <a:pPr>
              <a:defRPr sz="1400">
                <a:solidFill>
                  <a:srgbClr val="303030"/>
                </a:solidFill>
                <a:latin typeface="Georgia"/>
              </a:defRPr>
            </a:pPr>
            <a:br>
              <a:rPr dirty="0"/>
            </a:br>
            <a:r>
              <a:rPr dirty="0"/>
              <a:t>GPU: Not mandatory; integrated GPU is sufficient</a:t>
            </a:r>
            <a:endParaRPr lang="en-IN" dirty="0"/>
          </a:p>
          <a:p>
            <a:pPr>
              <a:defRPr sz="1400">
                <a:solidFill>
                  <a:srgbClr val="303030"/>
                </a:solidFill>
                <a:latin typeface="Georgia"/>
              </a:defRPr>
            </a:pPr>
            <a:endParaRPr lang="en-IN" dirty="0"/>
          </a:p>
          <a:p>
            <a:pPr>
              <a:defRPr sz="1400">
                <a:solidFill>
                  <a:srgbClr val="303030"/>
                </a:solidFill>
                <a:latin typeface="Georgia"/>
              </a:defRPr>
            </a:pPr>
            <a:endParaRPr lang="en-IN" dirty="0"/>
          </a:p>
          <a:p>
            <a:pPr>
              <a:defRPr sz="1400">
                <a:solidFill>
                  <a:srgbClr val="303030"/>
                </a:solidFill>
                <a:latin typeface="Georgia"/>
              </a:defRPr>
            </a:pPr>
            <a:endParaRPr lang="en-IN" dirty="0"/>
          </a:p>
          <a:p>
            <a:pPr>
              <a:defRPr sz="1400">
                <a:solidFill>
                  <a:srgbClr val="303030"/>
                </a:solidFill>
                <a:latin typeface="Georgia"/>
              </a:defRPr>
            </a:pPr>
            <a:endParaRPr lang="en-IN" dirty="0"/>
          </a:p>
          <a:p>
            <a:pPr>
              <a:defRPr sz="1400">
                <a:solidFill>
                  <a:srgbClr val="303030"/>
                </a:solidFill>
                <a:latin typeface="Georgia"/>
              </a:defRPr>
            </a:pPr>
            <a:endParaRPr lang="en-IN" dirty="0"/>
          </a:p>
          <a:p>
            <a:pPr>
              <a:defRPr sz="1400">
                <a:solidFill>
                  <a:srgbClr val="303030"/>
                </a:solidFill>
                <a:latin typeface="Georgia"/>
              </a:defRPr>
            </a:pPr>
            <a:endParaRPr lang="en-IN" dirty="0"/>
          </a:p>
          <a:p>
            <a:pPr>
              <a:defRPr sz="1400">
                <a:solidFill>
                  <a:srgbClr val="303030"/>
                </a:solidFill>
                <a:latin typeface="Georgia"/>
              </a:defRPr>
            </a:pPr>
            <a:endParaRPr lang="en-IN" dirty="0"/>
          </a:p>
          <a:p>
            <a:pPr>
              <a:defRPr sz="1400">
                <a:solidFill>
                  <a:srgbClr val="303030"/>
                </a:solidFill>
                <a:latin typeface="Georgia"/>
              </a:defRPr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  <a:latin typeface="Georgia"/>
              </a:defRPr>
            </a:pPr>
            <a:r>
              <a:t>7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61853E-46A6-C417-44C0-0E8E49109A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97000" cy="13652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971800" y="292608"/>
            <a:ext cx="6263640" cy="566928"/>
          </a:xfrm>
          <a:prstGeom prst="roundRect">
            <a:avLst/>
          </a:prstGeom>
          <a:solidFill>
            <a:srgbClr val="E25B4E"/>
          </a:solidFill>
          <a:ln w="15240">
            <a:solidFill>
              <a:srgbClr val="B44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FFFFFF"/>
                </a:solidFill>
                <a:latin typeface="Georgia"/>
              </a:defRPr>
            </a:pPr>
            <a: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48069"/>
            <a:ext cx="10607040" cy="2862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8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1900">
                <a:solidFill>
                  <a:srgbClr val="303030"/>
                </a:solidFill>
                <a:latin typeface="Georgia"/>
              </a:defRPr>
            </a:pPr>
            <a:r>
              <a:rPr dirty="0"/>
              <a:t>The proposed platform represents research papers and their citations as a directed graph.</a:t>
            </a:r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1900">
                <a:solidFill>
                  <a:srgbClr val="303030"/>
                </a:solidFill>
                <a:latin typeface="Georgia"/>
              </a:defRPr>
            </a:pPr>
            <a:r>
              <a:rPr dirty="0"/>
              <a:t>BFS and DFS provide graph traversal for exploring citation relationships and paths.</a:t>
            </a:r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1900">
                <a:solidFill>
                  <a:srgbClr val="303030"/>
                </a:solidFill>
                <a:latin typeface="Georgia"/>
              </a:defRPr>
            </a:pPr>
            <a:r>
              <a:rPr dirty="0"/>
              <a:t>PageRank provides a graph-based method for identifying influential papers.</a:t>
            </a:r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1900">
                <a:solidFill>
                  <a:srgbClr val="303030"/>
                </a:solidFill>
                <a:latin typeface="Georgia"/>
              </a:defRPr>
            </a:pPr>
            <a:r>
              <a:rPr dirty="0"/>
              <a:t>Community detection provides a way to identify closely connected groups of papers.</a:t>
            </a:r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1900">
                <a:solidFill>
                  <a:srgbClr val="303030"/>
                </a:solidFill>
                <a:latin typeface="Georgia"/>
              </a:defRPr>
            </a:pPr>
            <a:r>
              <a:rPr dirty="0"/>
              <a:t>Author-paper mapping supports publication and collaboration analysis.</a:t>
            </a:r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1900">
                <a:solidFill>
                  <a:srgbClr val="303030"/>
                </a:solidFill>
                <a:latin typeface="Georgia"/>
              </a:defRPr>
            </a:pPr>
            <a:r>
              <a:rPr dirty="0"/>
              <a:t>The dashboard is designed to present these results visually for easier exploration.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  <a:latin typeface="Georgia"/>
              </a:defRPr>
            </a:pPr>
            <a:r>
              <a:t>8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5EC32D4-3DD8-657C-23BF-3A57ED7B03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97000" cy="13652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971800" y="292608"/>
            <a:ext cx="6263640" cy="566928"/>
          </a:xfrm>
          <a:prstGeom prst="roundRect">
            <a:avLst/>
          </a:prstGeom>
          <a:solidFill>
            <a:srgbClr val="E25B4E"/>
          </a:solidFill>
          <a:ln w="15240">
            <a:solidFill>
              <a:srgbClr val="B44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FFFFFF"/>
                </a:solidFill>
                <a:latin typeface="Georgia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46082"/>
            <a:ext cx="10607040" cy="3445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08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2000">
                <a:solidFill>
                  <a:srgbClr val="303030"/>
                </a:solidFill>
                <a:latin typeface="Georgia"/>
              </a:defRPr>
            </a:pPr>
            <a:r>
              <a:rPr dirty="0"/>
              <a:t>The Citation-Network Analytics Platform provides a graph-based approach to understanding academic literature.</a:t>
            </a:r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2000">
                <a:solidFill>
                  <a:srgbClr val="303030"/>
                </a:solidFill>
                <a:latin typeface="Georgia"/>
              </a:defRPr>
            </a:pPr>
            <a:r>
              <a:rPr dirty="0"/>
              <a:t>It models papers as nodes and citations as directed edges.</a:t>
            </a:r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2000">
                <a:solidFill>
                  <a:srgbClr val="303030"/>
                </a:solidFill>
                <a:latin typeface="Georgia"/>
              </a:defRPr>
            </a:pPr>
            <a:r>
              <a:rPr dirty="0"/>
              <a:t>Graph algorithms help explore citation paths, identify influential papers, and discover research communities.</a:t>
            </a:r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2000">
                <a:solidFill>
                  <a:srgbClr val="303030"/>
                </a:solidFill>
                <a:latin typeface="Georgia"/>
              </a:defRPr>
            </a:pPr>
            <a:r>
              <a:rPr dirty="0"/>
              <a:t>Author-paper relationships extend the analysis to publications and collaborations.</a:t>
            </a:r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Font typeface="Arial" panose="020B0604020202020204" pitchFamily="34" charset="0"/>
              <a:buChar char="•"/>
              <a:defRPr sz="2000">
                <a:solidFill>
                  <a:srgbClr val="303030"/>
                </a:solidFill>
                <a:latin typeface="Georgia"/>
              </a:defRPr>
            </a:pPr>
            <a:r>
              <a:rPr dirty="0"/>
              <a:t>The interactive dashboard provides a systematic way for students and researchers to explore research relationships.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  <a:latin typeface="Georgia"/>
              </a:defRPr>
            </a:pPr>
            <a:r>
              <a:t>9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7C15B3-8630-7002-A572-DB6EAC2677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97000" cy="13652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971800" y="292608"/>
            <a:ext cx="6263640" cy="566928"/>
          </a:xfrm>
          <a:prstGeom prst="roundRect">
            <a:avLst/>
          </a:prstGeom>
          <a:solidFill>
            <a:srgbClr val="E25B4E"/>
          </a:solidFill>
          <a:ln w="15240">
            <a:solidFill>
              <a:srgbClr val="B44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FFFFFF"/>
                </a:solidFill>
                <a:latin typeface="Georgia"/>
              </a:defRPr>
            </a:pPr>
            <a:r>
              <a:t>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16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  <a:defRPr sz="1900">
                <a:solidFill>
                  <a:srgbClr val="303030"/>
                </a:solidFill>
                <a:latin typeface="Georgia"/>
              </a:defRPr>
            </a:pPr>
            <a:r>
              <a:t>Extend the platform with larger and continuously updated research-paper datasets.</a:t>
            </a:r>
          </a:p>
          <a:p>
            <a:pPr>
              <a:lnSpc>
                <a:spcPct val="108000"/>
              </a:lnSpc>
              <a:spcAft>
                <a:spcPts val="1400"/>
              </a:spcAft>
              <a:defRPr sz="1900">
                <a:solidFill>
                  <a:srgbClr val="303030"/>
                </a:solidFill>
                <a:latin typeface="Georgia"/>
              </a:defRPr>
            </a:pPr>
            <a:r>
              <a:t>Improve interactive visualization for large citation networks.</a:t>
            </a:r>
          </a:p>
          <a:p>
            <a:pPr>
              <a:lnSpc>
                <a:spcPct val="108000"/>
              </a:lnSpc>
              <a:spcAft>
                <a:spcPts val="1400"/>
              </a:spcAft>
              <a:defRPr sz="1900">
                <a:solidFill>
                  <a:srgbClr val="303030"/>
                </a:solidFill>
                <a:latin typeface="Georgia"/>
              </a:defRPr>
            </a:pPr>
            <a:r>
              <a:t>Add more advanced graph analytics for deeper research-trend analysis.</a:t>
            </a:r>
          </a:p>
          <a:p>
            <a:pPr>
              <a:lnSpc>
                <a:spcPct val="108000"/>
              </a:lnSpc>
              <a:spcAft>
                <a:spcPts val="1400"/>
              </a:spcAft>
              <a:defRPr sz="1900">
                <a:solidFill>
                  <a:srgbClr val="303030"/>
                </a:solidFill>
                <a:latin typeface="Georgia"/>
              </a:defRPr>
            </a:pPr>
            <a:r>
              <a:t>Enhance author collaboration analysis with richer publication relationships.</a:t>
            </a:r>
          </a:p>
          <a:p>
            <a:pPr>
              <a:lnSpc>
                <a:spcPct val="108000"/>
              </a:lnSpc>
              <a:spcAft>
                <a:spcPts val="1400"/>
              </a:spcAft>
              <a:defRPr sz="1900">
                <a:solidFill>
                  <a:srgbClr val="303030"/>
                </a:solidFill>
                <a:latin typeface="Georgia"/>
              </a:defRPr>
            </a:pPr>
            <a:r>
              <a:t>Provide more detailed filtering and search options for papers, authors, communities, and citation paths.</a:t>
            </a:r>
          </a:p>
          <a:p>
            <a:pPr>
              <a:lnSpc>
                <a:spcPct val="108000"/>
              </a:lnSpc>
              <a:spcAft>
                <a:spcPts val="1400"/>
              </a:spcAft>
              <a:defRPr sz="1900">
                <a:solidFill>
                  <a:srgbClr val="303030"/>
                </a:solidFill>
                <a:latin typeface="Georgia"/>
              </a:defRPr>
            </a:pPr>
            <a:r>
              <a:t>Integrate additional external research resources as the platform evolves.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  <a:latin typeface="Georgia"/>
              </a:defRPr>
            </a:pPr>
            <a:r>
              <a:t>10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A8B1DC-BF8D-97E8-C33F-89E00F54C604}"/>
              </a:ext>
            </a:extLst>
          </p:cNvPr>
          <p:cNvSpPr txBox="1"/>
          <p:nvPr/>
        </p:nvSpPr>
        <p:spPr>
          <a:xfrm>
            <a:off x="4690872" y="5784800"/>
            <a:ext cx="311810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rgbClr val="C00000"/>
                </a:solidFill>
              </a:rPr>
              <a:t>Thank You</a:t>
            </a:r>
          </a:p>
          <a:p>
            <a:endParaRPr lang="en-IN" sz="4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9F2B77-B4B9-4A29-2B4C-90A54C0BD3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97000" cy="13652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Lines">
  <a:themeElements>
    <a:clrScheme name="Lines">
      <a:dk1>
        <a:srgbClr val="0F0F0F"/>
      </a:dk1>
      <a:lt1>
        <a:sysClr val="window" lastClr="FFFFFF"/>
      </a:lt1>
      <a:dk2>
        <a:srgbClr val="0A242A"/>
      </a:dk2>
      <a:lt2>
        <a:srgbClr val="F5F2ED"/>
      </a:lt2>
      <a:accent1>
        <a:srgbClr val="E45730"/>
      </a:accent1>
      <a:accent2>
        <a:srgbClr val="27717D"/>
      </a:accent2>
      <a:accent3>
        <a:srgbClr val="8CA8B5"/>
      </a:accent3>
      <a:accent4>
        <a:srgbClr val="607381"/>
      </a:accent4>
      <a:accent5>
        <a:srgbClr val="A39990"/>
      </a:accent5>
      <a:accent6>
        <a:srgbClr val="BA3106"/>
      </a:accent6>
      <a:hlink>
        <a:srgbClr val="E45730"/>
      </a:hlink>
      <a:folHlink>
        <a:srgbClr val="24717F"/>
      </a:folHlink>
    </a:clrScheme>
    <a:fontScheme name="Univers Condensed Arial Light">
      <a:majorFont>
        <a:latin typeface="Univers Condensed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Lines" id="{73C0D9B4-D252-4142-B71F-89E39AB3FA27}" vid="{AF756BC4-928A-4ACB-8AC0-2FBFD00AF4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Lines</Template>
  <TotalTime>22</TotalTime>
  <Words>772</Words>
  <Application>Microsoft Office PowerPoint</Application>
  <PresentationFormat>Widescreen</PresentationFormat>
  <Paragraphs>104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Arial Nova Light</vt:lpstr>
      <vt:lpstr>Univers Condensed</vt:lpstr>
      <vt:lpstr>Lines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Likith Kumar</dc:creator>
  <cp:keywords/>
  <dc:description>generated using python-pptx</dc:description>
  <cp:lastModifiedBy>P.Rithwik Rao</cp:lastModifiedBy>
  <cp:revision>7</cp:revision>
  <dcterms:created xsi:type="dcterms:W3CDTF">2013-01-27T09:14:16Z</dcterms:created>
  <dcterms:modified xsi:type="dcterms:W3CDTF">2026-08-27T08:06:54Z</dcterms:modified>
  <cp:category/>
</cp:coreProperties>
</file>